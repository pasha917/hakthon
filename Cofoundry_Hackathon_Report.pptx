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2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68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B6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0" y="3200400"/>
            <a:ext cx="2743200" cy="274320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>
                <a:solidFill>
                  <a:srgbClr val="E6C870"/>
                </a:solidFill>
                <a:latin typeface="Calibri"/>
              </a:rPr>
              <a:t>C O F O U N D R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6600" b="1" i="0">
                <a:solidFill>
                  <a:srgbClr val="F4EFE2"/>
                </a:solidFill>
                <a:latin typeface="Calibri"/>
              </a:rPr>
              <a:t>AI-Based Startup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6600" b="1" i="1" dirty="0">
                <a:solidFill>
                  <a:srgbClr val="E6C870"/>
                </a:solidFill>
                <a:latin typeface="Calibri"/>
              </a:rPr>
              <a:t>Validation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058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0" i="1" dirty="0">
                <a:solidFill>
                  <a:srgbClr val="B8B1A0"/>
                </a:solidFill>
                <a:latin typeface="Calibri"/>
              </a:rPr>
              <a:t>From raw spark to investor-ready dossier — in under 10 minutes.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438975-E33B-153B-8E68-53591545FFE1}"/>
              </a:ext>
            </a:extLst>
          </p:cNvPr>
          <p:cNvSpPr txBox="1"/>
          <p:nvPr/>
        </p:nvSpPr>
        <p:spPr>
          <a:xfrm>
            <a:off x="7520233" y="2780437"/>
            <a:ext cx="69051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Monaspace Neon"/>
              </a:rPr>
              <a:t>Team Name: </a:t>
            </a:r>
            <a:r>
              <a:rPr lang="en-US" i="0" dirty="0" err="1">
                <a:solidFill>
                  <a:schemeClr val="bg1"/>
                </a:solidFill>
                <a:effectLst/>
                <a:latin typeface="Monaspace Neon"/>
              </a:rPr>
              <a:t>Tech</a:t>
            </a:r>
            <a:r>
              <a:rPr lang="en-US" dirty="0" err="1">
                <a:solidFill>
                  <a:schemeClr val="bg1"/>
                </a:solidFill>
              </a:rPr>
              <a:t>Titanium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i="0" dirty="0">
                <a:solidFill>
                  <a:schemeClr val="bg1"/>
                </a:solidFill>
                <a:effectLst/>
                <a:latin typeface="Monaspace Neon"/>
              </a:rPr>
              <a:t> </a:t>
            </a:r>
            <a:r>
              <a:rPr lang="en-US" dirty="0">
                <a:solidFill>
                  <a:schemeClr val="bg1"/>
                </a:solidFill>
                <a:latin typeface="Monaspace Neon"/>
              </a:rPr>
              <a:t>Team Members: </a:t>
            </a:r>
            <a:r>
              <a:rPr lang="en-US" dirty="0" err="1">
                <a:solidFill>
                  <a:schemeClr val="bg1"/>
                </a:solidFill>
                <a:latin typeface="Monaspace Neon"/>
              </a:rPr>
              <a:t>Yarab</a:t>
            </a:r>
            <a:r>
              <a:rPr lang="en-US" dirty="0">
                <a:solidFill>
                  <a:schemeClr val="bg1"/>
                </a:solidFill>
                <a:latin typeface="Monaspace Neon"/>
              </a:rPr>
              <a:t> pasha</a:t>
            </a:r>
          </a:p>
          <a:p>
            <a:r>
              <a:rPr lang="en-US" i="0" dirty="0">
                <a:solidFill>
                  <a:schemeClr val="bg1"/>
                </a:solidFill>
                <a:effectLst/>
                <a:latin typeface="Monaspace Neon"/>
              </a:rPr>
              <a:t>                                Manvitha A</a:t>
            </a:r>
          </a:p>
          <a:p>
            <a:r>
              <a:rPr lang="en-US" dirty="0">
                <a:solidFill>
                  <a:schemeClr val="bg1"/>
                </a:solidFill>
                <a:latin typeface="Monaspace Neon"/>
              </a:rPr>
              <a:t>                                 Keerthana</a:t>
            </a:r>
          </a:p>
          <a:p>
            <a:r>
              <a:rPr lang="en-US" i="0" dirty="0">
                <a:solidFill>
                  <a:schemeClr val="bg1"/>
                </a:solidFill>
                <a:effectLst/>
                <a:latin typeface="Monaspace Neon"/>
              </a:rPr>
              <a:t>Domain</a:t>
            </a:r>
            <a:r>
              <a:rPr lang="en-US" dirty="0">
                <a:solidFill>
                  <a:schemeClr val="bg1"/>
                </a:solidFill>
                <a:latin typeface="Monaspace Neon"/>
              </a:rPr>
              <a:t>: Open Innovation Track</a:t>
            </a:r>
          </a:p>
          <a:p>
            <a:r>
              <a:rPr lang="en-US" dirty="0">
                <a:solidFill>
                  <a:schemeClr val="bg1"/>
                </a:solidFill>
                <a:latin typeface="Monaspace Neon"/>
              </a:rPr>
              <a:t>Topic : </a:t>
            </a:r>
            <a:r>
              <a:rPr lang="en-US" dirty="0">
                <a:solidFill>
                  <a:schemeClr val="bg1"/>
                </a:solidFill>
              </a:rPr>
              <a:t>AI-Based Startup Idea Validation Platform</a:t>
            </a:r>
            <a:endParaRPr lang="en-US" i="0" dirty="0">
              <a:solidFill>
                <a:schemeClr val="bg1"/>
              </a:solidFill>
              <a:effectLst/>
              <a:latin typeface="Monaspace Neo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00000" y="-900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B6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11274552" cy="4023360"/>
          </a:xfrm>
          <a:prstGeom prst="rect">
            <a:avLst/>
          </a:prstGeom>
          <a:solidFill>
            <a:srgbClr val="141422"/>
          </a:solidFill>
          <a:ln w="635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A0A14"/>
          </a:solidFill>
          <a:ln w="9525">
            <a:solidFill>
              <a:srgbClr val="E6C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000" b="1">
                <a:solidFill>
                  <a:srgbClr val="E6C870"/>
                </a:solidFill>
                <a:latin typeface="Calibri"/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859536"/>
            <a:ext cx="1097280" cy="45720"/>
          </a:xfrm>
          <a:prstGeom prst="rect">
            <a:avLst/>
          </a:prstGeom>
          <a:solidFill>
            <a:srgbClr val="E6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 i="0">
                <a:solidFill>
                  <a:srgbClr val="F4EFE2"/>
                </a:solidFill>
                <a:latin typeface="Calibri"/>
              </a:rPr>
              <a:t>90% of startups fail.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 i="1">
                <a:solidFill>
                  <a:srgbClr val="B8B1A0"/>
                </a:solidFill>
                <a:latin typeface="Calibri"/>
              </a:rPr>
              <a:t>Most die because the founder never validated the idea before building.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F4EFE2"/>
                </a:solidFill>
                <a:latin typeface="Calibri"/>
              </a:rPr>
              <a:t>•  42% of failed startups found no market need for their product (CB Insights)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F4EFE2"/>
                </a:solidFill>
                <a:latin typeface="Calibri"/>
              </a:rPr>
              <a:t>•  Founders spend 6-18 months building before talking to customers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F4EFE2"/>
                </a:solidFill>
                <a:latin typeface="Calibri"/>
              </a:rPr>
              <a:t>•  Market data, legal, financials and competitor research are scattered across 20+ tools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F4EFE2"/>
                </a:solidFill>
                <a:latin typeface="Calibri"/>
              </a:rPr>
              <a:t>•  First-time founders lack a structured framework to separate hype from demand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F4EFE2"/>
                </a:solidFill>
                <a:latin typeface="Calibri"/>
              </a:rPr>
              <a:t>•  VCs reject 97% of cold pitches — usually on fundamentals the founder could have fixed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00000" y="-900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B6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11274552" cy="4023360"/>
          </a:xfrm>
          <a:prstGeom prst="rect">
            <a:avLst/>
          </a:prstGeom>
          <a:solidFill>
            <a:srgbClr val="141422"/>
          </a:solidFill>
          <a:ln w="635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A0A14"/>
          </a:solidFill>
          <a:ln w="9525">
            <a:solidFill>
              <a:srgbClr val="E6C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000" b="1">
                <a:solidFill>
                  <a:srgbClr val="E6C870"/>
                </a:solidFill>
                <a:latin typeface="Calibri"/>
              </a:rPr>
              <a:t>OUR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859536"/>
            <a:ext cx="1097280" cy="45720"/>
          </a:xfrm>
          <a:prstGeom prst="rect">
            <a:avLst/>
          </a:prstGeom>
          <a:solidFill>
            <a:srgbClr val="E6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 i="0">
                <a:solidFill>
                  <a:srgbClr val="F4EFE2"/>
                </a:solidFill>
                <a:latin typeface="Calibri"/>
              </a:rPr>
              <a:t>Cofoundry — your AI co-founder.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 i="1">
                <a:solidFill>
                  <a:srgbClr val="B8B1A0"/>
                </a:solidFill>
                <a:latin typeface="Calibri"/>
              </a:rPr>
              <a:t>One conversation → full startup dossier with 18+ AI validators.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F4EFE2"/>
                </a:solidFill>
                <a:latin typeface="Calibri"/>
              </a:rPr>
              <a:t>•  Type or SPEAK your raw idea in any language — AI picks best-fit industry instantly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4EFE2"/>
                </a:solidFill>
                <a:latin typeface="Calibri"/>
              </a:rPr>
              <a:t>•  5-step guided wizard maps world problems, analyzes novelty, suggests funding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4EFE2"/>
                </a:solidFill>
                <a:latin typeface="Calibri"/>
              </a:rPr>
              <a:t>•  Validation Lab: 13 data-driven AI experts score your idea on 8 dimensions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4EFE2"/>
                </a:solidFill>
                <a:latin typeface="Calibri"/>
              </a:rPr>
              <a:t>•  The Forge: auto-generates logo, pitch deck, tech stack, marketing plan &amp; legal checklist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4EFE2"/>
                </a:solidFill>
                <a:latin typeface="Calibri"/>
              </a:rPr>
              <a:t>•  Voice-to-voice call with Bubble — practice pitching to a tough Sequoia-style VC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4EFE2"/>
                </a:solidFill>
                <a:latin typeface="Calibri"/>
              </a:rPr>
              <a:t>•  End result: a go/pivot/no-go verdict you can share with co-founders &amp; hackathon judges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00000" y="-900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B6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11274552" cy="4023360"/>
          </a:xfrm>
          <a:prstGeom prst="rect">
            <a:avLst/>
          </a:prstGeom>
          <a:solidFill>
            <a:srgbClr val="141422"/>
          </a:solidFill>
          <a:ln w="635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A0A14"/>
          </a:solidFill>
          <a:ln w="9525">
            <a:solidFill>
              <a:srgbClr val="E6C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000" b="1">
                <a:solidFill>
                  <a:srgbClr val="E6C870"/>
                </a:solidFill>
                <a:latin typeface="Calibri"/>
              </a:rPr>
              <a:t>PRODUCT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859536"/>
            <a:ext cx="1097280" cy="45720"/>
          </a:xfrm>
          <a:prstGeom prst="rect">
            <a:avLst/>
          </a:prstGeom>
          <a:solidFill>
            <a:srgbClr val="E6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 i="0" dirty="0">
                <a:solidFill>
                  <a:srgbClr val="F4EFE2"/>
                </a:solidFill>
                <a:latin typeface="Calibri"/>
              </a:rPr>
              <a:t>The 7-step founder journey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34640"/>
            <a:ext cx="1188720" cy="1188720"/>
          </a:xfrm>
          <a:prstGeom prst="ellipse">
            <a:avLst/>
          </a:prstGeom>
          <a:solidFill>
            <a:srgbClr val="E6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188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 i="0">
                <a:solidFill>
                  <a:srgbClr val="0A0A14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645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i="0">
                <a:solidFill>
                  <a:srgbClr val="F4EFE2"/>
                </a:solidFill>
                <a:latin typeface="Calibri"/>
              </a:rPr>
              <a:t>Seed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64592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 i="0">
                <a:solidFill>
                  <a:srgbClr val="B8B1A0"/>
                </a:solidFill>
                <a:latin typeface="Calibri"/>
              </a:rPr>
              <a:t>Founder types or speaks the raw idea</a:t>
            </a:r>
          </a:p>
        </p:txBody>
      </p:sp>
      <p:sp>
        <p:nvSpPr>
          <p:cNvPr id="13" name="Oval 12"/>
          <p:cNvSpPr/>
          <p:nvPr/>
        </p:nvSpPr>
        <p:spPr>
          <a:xfrm>
            <a:off x="2450592" y="2834640"/>
            <a:ext cx="1188720" cy="118872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50592" y="3154680"/>
            <a:ext cx="1188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 i="0">
                <a:solidFill>
                  <a:srgbClr val="0A0A14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4206240"/>
            <a:ext cx="1645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i="0">
                <a:solidFill>
                  <a:srgbClr val="F4EFE2"/>
                </a:solidFill>
                <a:latin typeface="Calibri"/>
              </a:rPr>
              <a:t>Problems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4572000"/>
            <a:ext cx="164592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 i="0">
                <a:solidFill>
                  <a:srgbClr val="B8B1A0"/>
                </a:solidFill>
                <a:latin typeface="Calibri"/>
              </a:rPr>
              <a:t>AI surfaces 4 real-world problems to solve</a:t>
            </a:r>
          </a:p>
        </p:txBody>
      </p:sp>
      <p:sp>
        <p:nvSpPr>
          <p:cNvPr id="17" name="Oval 16"/>
          <p:cNvSpPr/>
          <p:nvPr/>
        </p:nvSpPr>
        <p:spPr>
          <a:xfrm>
            <a:off x="4078224" y="2834640"/>
            <a:ext cx="1188720" cy="11887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78224" y="3154680"/>
            <a:ext cx="1188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 i="0">
                <a:solidFill>
                  <a:srgbClr val="0A0A14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4206240"/>
            <a:ext cx="1645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i="0">
                <a:solidFill>
                  <a:srgbClr val="F4EFE2"/>
                </a:solidFill>
                <a:latin typeface="Calibri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4572000"/>
            <a:ext cx="164592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 i="0">
                <a:solidFill>
                  <a:srgbClr val="B8B1A0"/>
                </a:solidFill>
                <a:latin typeface="Calibri"/>
              </a:rPr>
              <a:t>Deep novelty + competitor gap analysis</a:t>
            </a:r>
          </a:p>
        </p:txBody>
      </p:sp>
      <p:sp>
        <p:nvSpPr>
          <p:cNvPr id="21" name="Oval 20"/>
          <p:cNvSpPr/>
          <p:nvPr/>
        </p:nvSpPr>
        <p:spPr>
          <a:xfrm>
            <a:off x="5705856" y="2834640"/>
            <a:ext cx="1188720" cy="11887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05856" y="3154680"/>
            <a:ext cx="1188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 i="0">
                <a:solidFill>
                  <a:srgbClr val="0A0A14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2976" y="4206240"/>
            <a:ext cx="1645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i="0">
                <a:solidFill>
                  <a:srgbClr val="F4EFE2"/>
                </a:solidFill>
                <a:latin typeface="Calibri"/>
              </a:rP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4572000"/>
            <a:ext cx="164592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 i="0">
                <a:solidFill>
                  <a:srgbClr val="B8B1A0"/>
                </a:solidFill>
                <a:latin typeface="Calibri"/>
              </a:rPr>
              <a:t>Govt schemes + grants + accelerators</a:t>
            </a:r>
          </a:p>
        </p:txBody>
      </p:sp>
      <p:sp>
        <p:nvSpPr>
          <p:cNvPr id="25" name="Oval 24"/>
          <p:cNvSpPr/>
          <p:nvPr/>
        </p:nvSpPr>
        <p:spPr>
          <a:xfrm>
            <a:off x="7333488" y="2834640"/>
            <a:ext cx="1188720" cy="1188720"/>
          </a:xfrm>
          <a:prstGeom prst="ellipse">
            <a:avLst/>
          </a:prstGeom>
          <a:solidFill>
            <a:srgbClr val="E6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33488" y="3154680"/>
            <a:ext cx="1188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 i="0">
                <a:solidFill>
                  <a:srgbClr val="0A0A14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4206240"/>
            <a:ext cx="1645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i="0">
                <a:solidFill>
                  <a:srgbClr val="F4EFE2"/>
                </a:solidFill>
                <a:latin typeface="Calibri"/>
              </a:rPr>
              <a:t>Verdict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4572000"/>
            <a:ext cx="164592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 i="0">
                <a:solidFill>
                  <a:srgbClr val="B8B1A0"/>
                </a:solidFill>
                <a:latin typeface="Calibri"/>
              </a:rPr>
              <a:t>Viability, years-to-success, funding charts</a:t>
            </a:r>
          </a:p>
        </p:txBody>
      </p:sp>
      <p:sp>
        <p:nvSpPr>
          <p:cNvPr id="29" name="Oval 28"/>
          <p:cNvSpPr/>
          <p:nvPr/>
        </p:nvSpPr>
        <p:spPr>
          <a:xfrm>
            <a:off x="8961120" y="2834640"/>
            <a:ext cx="1188720" cy="11887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0" y="3154680"/>
            <a:ext cx="1188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 i="0">
                <a:solidFill>
                  <a:srgbClr val="0A0A14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206240"/>
            <a:ext cx="1645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i="0">
                <a:solidFill>
                  <a:srgbClr val="F4EFE2"/>
                </a:solidFill>
                <a:latin typeface="Calibri"/>
              </a:rPr>
              <a:t>Forge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572000"/>
            <a:ext cx="164592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 i="0">
                <a:solidFill>
                  <a:srgbClr val="B8B1A0"/>
                </a:solidFill>
                <a:latin typeface="Calibri"/>
              </a:rPr>
              <a:t>Logo, deck, tech stack, marketing, legal</a:t>
            </a:r>
          </a:p>
        </p:txBody>
      </p:sp>
      <p:sp>
        <p:nvSpPr>
          <p:cNvPr id="33" name="Oval 32"/>
          <p:cNvSpPr/>
          <p:nvPr/>
        </p:nvSpPr>
        <p:spPr>
          <a:xfrm>
            <a:off x="10588752" y="2834640"/>
            <a:ext cx="1188720" cy="118872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88752" y="3154680"/>
            <a:ext cx="1188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 i="0">
                <a:solidFill>
                  <a:srgbClr val="0A0A14"/>
                </a:solidFill>
                <a:latin typeface="Calibr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05872" y="4206240"/>
            <a:ext cx="1645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i="0">
                <a:solidFill>
                  <a:srgbClr val="F4EFE2"/>
                </a:solidFill>
                <a:latin typeface="Calibri"/>
              </a:rPr>
              <a:t>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5872" y="4572000"/>
            <a:ext cx="164592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 i="0">
                <a:solidFill>
                  <a:srgbClr val="B8B1A0"/>
                </a:solidFill>
                <a:latin typeface="Calibri"/>
              </a:rPr>
              <a:t>13 AI tools score your idea for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9EA3-1B39-EDD3-B826-CB7136127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ABCFAD-68DA-237C-D989-F4F58C7BD6A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6DF2B4F-86D5-3A45-C70F-504E2E5D6DB8}"/>
              </a:ext>
            </a:extLst>
          </p:cNvPr>
          <p:cNvSpPr/>
          <p:nvPr/>
        </p:nvSpPr>
        <p:spPr>
          <a:xfrm>
            <a:off x="-900000" y="-900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133E492-2748-5732-A02F-18864F0D4B28}"/>
              </a:ext>
            </a:extLst>
          </p:cNvPr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B6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5646E7-148D-C5D6-19C7-F6B68B320F05}"/>
              </a:ext>
            </a:extLst>
          </p:cNvPr>
          <p:cNvSpPr/>
          <p:nvPr/>
        </p:nvSpPr>
        <p:spPr>
          <a:xfrm>
            <a:off x="457200" y="2468880"/>
            <a:ext cx="11274552" cy="4023360"/>
          </a:xfrm>
          <a:prstGeom prst="rect">
            <a:avLst/>
          </a:prstGeom>
          <a:solidFill>
            <a:srgbClr val="141422"/>
          </a:solidFill>
          <a:ln w="635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A61BA0-DBEE-A79D-010C-B37A28EE53FD}"/>
              </a:ext>
            </a:extLst>
          </p:cNvPr>
          <p:cNvSpPr/>
          <p:nvPr/>
        </p:nvSpPr>
        <p:spPr>
          <a:xfrm>
            <a:off x="64008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A0A14"/>
          </a:solidFill>
          <a:ln w="9525">
            <a:solidFill>
              <a:srgbClr val="E6C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000" b="1">
                <a:solidFill>
                  <a:srgbClr val="E6C870"/>
                </a:solidFill>
                <a:latin typeface="Calibri"/>
              </a:rPr>
              <a:t>PRODUCT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067E77-F669-442B-8B3F-0B52DACCF6CC}"/>
              </a:ext>
            </a:extLst>
          </p:cNvPr>
          <p:cNvSpPr/>
          <p:nvPr/>
        </p:nvSpPr>
        <p:spPr>
          <a:xfrm>
            <a:off x="640080" y="859536"/>
            <a:ext cx="1097280" cy="45720"/>
          </a:xfrm>
          <a:prstGeom prst="rect">
            <a:avLst/>
          </a:prstGeom>
          <a:solidFill>
            <a:srgbClr val="E6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A06998-DC3E-4265-97FD-A3386713C5B5}"/>
              </a:ext>
            </a:extLst>
          </p:cNvPr>
          <p:cNvSpPr txBox="1"/>
          <p:nvPr/>
        </p:nvSpPr>
        <p:spPr>
          <a:xfrm>
            <a:off x="640080" y="1005840"/>
            <a:ext cx="10972800" cy="1323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From Automation to Intelligence: Why Our Platform Outperforms </a:t>
            </a:r>
            <a:r>
              <a:rPr lang="en-US" sz="4000" b="1" dirty="0" err="1">
                <a:solidFill>
                  <a:schemeClr val="bg1"/>
                </a:solidFill>
                <a:latin typeface="Calibri "/>
              </a:rPr>
              <a:t>Cofoundry</a:t>
            </a:r>
            <a:r>
              <a:rPr lang="en-US" sz="4000" b="1" dirty="0">
                <a:solidFill>
                  <a:schemeClr val="bg1"/>
                </a:solidFill>
              </a:rPr>
              <a:t>”</a:t>
            </a:r>
            <a:endParaRPr sz="4000" b="1" i="0" dirty="0">
              <a:solidFill>
                <a:schemeClr val="bg1"/>
              </a:solidFill>
              <a:latin typeface="Calibri"/>
            </a:endParaRP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29A7A0F-ED71-243C-3436-E8140F12A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946186"/>
              </p:ext>
            </p:extLst>
          </p:nvPr>
        </p:nvGraphicFramePr>
        <p:xfrm>
          <a:off x="758952" y="2458511"/>
          <a:ext cx="10972800" cy="588873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31949285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26615923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817815827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86624518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848191534"/>
                    </a:ext>
                  </a:extLst>
                </a:gridCol>
              </a:tblGrid>
              <a:tr h="435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Category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 Existing Project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Your Project 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Performance (%)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Winner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949313"/>
                  </a:ext>
                </a:extLst>
              </a:tr>
              <a:tr h="435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Idea Input System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Text + Voice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Text + AI human interaction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95%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🟢 </a:t>
                      </a:r>
                      <a:r>
                        <a:rPr lang="en-US" sz="1050" b="1">
                          <a:solidFill>
                            <a:schemeClr val="bg1"/>
                          </a:solidFill>
                        </a:rPr>
                        <a:t>YOU</a:t>
                      </a:r>
                      <a:endParaRPr lang="en-US" sz="105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53273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Problem Identification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AI-generated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AI + user selection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97%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🟢 </a:t>
                      </a:r>
                      <a:r>
                        <a:rPr lang="en-US" sz="1050" b="1">
                          <a:solidFill>
                            <a:schemeClr val="bg1"/>
                          </a:solidFill>
                        </a:rPr>
                        <a:t>YOU</a:t>
                      </a:r>
                      <a:endParaRPr lang="en-US" sz="105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289974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Workflow Structure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Automated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Guided step-by-step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98%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🟢 </a:t>
                      </a:r>
                      <a:r>
                        <a:rPr lang="en-US" sz="1050" b="1">
                          <a:solidFill>
                            <a:schemeClr val="bg1"/>
                          </a:solidFill>
                        </a:rPr>
                        <a:t>YOU</a:t>
                      </a:r>
                      <a:endParaRPr lang="en-US" sz="105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169284"/>
                  </a:ext>
                </a:extLst>
              </a:tr>
              <a:tr h="435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User Interaction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High (interactive decisions)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98%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🟢 </a:t>
                      </a:r>
                      <a:r>
                        <a:rPr lang="en-US" sz="1050" b="1">
                          <a:solidFill>
                            <a:schemeClr val="bg1"/>
                          </a:solidFill>
                        </a:rPr>
                        <a:t>YOU</a:t>
                      </a:r>
                      <a:endParaRPr lang="en-US" sz="105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918421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Market Analysis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Advanced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~80% implemented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88%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🟡 Slight Existing Project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271146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050" dirty="0" err="1">
                          <a:solidFill>
                            <a:schemeClr val="bg1"/>
                          </a:solidFill>
                        </a:rPr>
                        <a:t>projectFinancial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 Guidance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Strong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Strong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92%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🟡 Tie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435103"/>
                  </a:ext>
                </a:extLst>
              </a:tr>
              <a:tr h="435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Pitch Deck Generator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Good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More professional output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97%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🟢 </a:t>
                      </a:r>
                      <a:r>
                        <a:rPr lang="en-US" sz="1050" b="1">
                          <a:solidFill>
                            <a:schemeClr val="bg1"/>
                          </a:solidFill>
                        </a:rPr>
                        <a:t>YOU</a:t>
                      </a:r>
                      <a:endParaRPr lang="en-US" sz="105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976174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Validation Scoring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100-point system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Implemented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90%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🟡 Slight Existing Project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765671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Branding (Logo etc.)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95%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🟡 Tie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252369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Tech Stack Suggestion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95%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🟡 Tie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917805"/>
                  </a:ext>
                </a:extLst>
              </a:tr>
              <a:tr h="1821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626531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454803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58349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593494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318834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154539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617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79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1DD9C-00E9-0775-BFB7-8652B214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9B0E60-356F-56FB-7B84-486DB96E4A4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EB4F104-61A1-3CFC-D8BB-589B96484BD3}"/>
              </a:ext>
            </a:extLst>
          </p:cNvPr>
          <p:cNvSpPr/>
          <p:nvPr/>
        </p:nvSpPr>
        <p:spPr>
          <a:xfrm>
            <a:off x="-900000" y="-900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6D53874-02FA-C3C4-8ACC-5B147AA1D654}"/>
              </a:ext>
            </a:extLst>
          </p:cNvPr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B6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D451B7-D710-C912-FAF3-59B9F9822A61}"/>
              </a:ext>
            </a:extLst>
          </p:cNvPr>
          <p:cNvSpPr/>
          <p:nvPr/>
        </p:nvSpPr>
        <p:spPr>
          <a:xfrm>
            <a:off x="457200" y="2468880"/>
            <a:ext cx="11274552" cy="4023360"/>
          </a:xfrm>
          <a:prstGeom prst="rect">
            <a:avLst/>
          </a:prstGeom>
          <a:solidFill>
            <a:srgbClr val="141422"/>
          </a:solidFill>
          <a:ln w="635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  🧮 Final Scores</a:t>
            </a:r>
          </a:p>
          <a:p>
            <a:r>
              <a:rPr lang="en-US" b="1" dirty="0"/>
              <a:t>        Existing Project Score:</a:t>
            </a:r>
            <a:r>
              <a:rPr lang="en-US" dirty="0"/>
              <a:t> 91% </a:t>
            </a:r>
          </a:p>
          <a:p>
            <a:r>
              <a:rPr lang="en-US" b="1" dirty="0"/>
              <a:t>        Your Project Score:</a:t>
            </a:r>
            <a:r>
              <a:rPr lang="en-US" dirty="0"/>
              <a:t> </a:t>
            </a:r>
            <a:r>
              <a:rPr lang="en-US" b="1" dirty="0"/>
              <a:t>96%   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8D5DBF-AC4B-07F7-E235-2BE6CEFD3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074714"/>
              </p:ext>
            </p:extLst>
          </p:nvPr>
        </p:nvGraphicFramePr>
        <p:xfrm>
          <a:off x="1121790" y="471600"/>
          <a:ext cx="10256364" cy="4305690"/>
        </p:xfrm>
        <a:graphic>
          <a:graphicData uri="http://schemas.openxmlformats.org/drawingml/2006/table">
            <a:tbl>
              <a:tblPr/>
              <a:tblGrid>
                <a:gridCol w="2051273">
                  <a:extLst>
                    <a:ext uri="{9D8B030D-6E8A-4147-A177-3AD203B41FA5}">
                      <a16:colId xmlns:a16="http://schemas.microsoft.com/office/drawing/2014/main" val="2659266832"/>
                    </a:ext>
                  </a:extLst>
                </a:gridCol>
                <a:gridCol w="2051273">
                  <a:extLst>
                    <a:ext uri="{9D8B030D-6E8A-4147-A177-3AD203B41FA5}">
                      <a16:colId xmlns:a16="http://schemas.microsoft.com/office/drawing/2014/main" val="1686836912"/>
                    </a:ext>
                  </a:extLst>
                </a:gridCol>
                <a:gridCol w="2777003">
                  <a:extLst>
                    <a:ext uri="{9D8B030D-6E8A-4147-A177-3AD203B41FA5}">
                      <a16:colId xmlns:a16="http://schemas.microsoft.com/office/drawing/2014/main" val="1143113912"/>
                    </a:ext>
                  </a:extLst>
                </a:gridCol>
                <a:gridCol w="1406612">
                  <a:extLst>
                    <a:ext uri="{9D8B030D-6E8A-4147-A177-3AD203B41FA5}">
                      <a16:colId xmlns:a16="http://schemas.microsoft.com/office/drawing/2014/main" val="1756333764"/>
                    </a:ext>
                  </a:extLst>
                </a:gridCol>
                <a:gridCol w="1970203">
                  <a:extLst>
                    <a:ext uri="{9D8B030D-6E8A-4147-A177-3AD203B41FA5}">
                      <a16:colId xmlns:a16="http://schemas.microsoft.com/office/drawing/2014/main" val="3911255874"/>
                    </a:ext>
                  </a:extLst>
                </a:gridCol>
              </a:tblGrid>
              <a:tr h="2135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450574"/>
                  </a:ext>
                </a:extLst>
              </a:tr>
              <a:tr h="2135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307801"/>
                  </a:ext>
                </a:extLst>
              </a:tr>
              <a:tr h="2071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308639"/>
                  </a:ext>
                </a:extLst>
              </a:tr>
              <a:tr h="2071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768003"/>
                  </a:ext>
                </a:extLst>
              </a:tr>
              <a:tr h="2135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77986"/>
                  </a:ext>
                </a:extLst>
              </a:tr>
              <a:tr h="2071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474542"/>
                  </a:ext>
                </a:extLst>
              </a:tr>
              <a:tr h="2071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15998"/>
                  </a:ext>
                </a:extLst>
              </a:tr>
              <a:tr h="2135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789652"/>
                  </a:ext>
                </a:extLst>
              </a:tr>
              <a:tr h="2071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34516"/>
                  </a:ext>
                </a:extLst>
              </a:tr>
              <a:tr h="2071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606152"/>
                  </a:ext>
                </a:extLst>
              </a:tr>
              <a:tr h="2071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347010"/>
                  </a:ext>
                </a:extLst>
              </a:tr>
              <a:tr h="28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Marketing Plan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95%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🟡 Tie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613665"/>
                  </a:ext>
                </a:extLst>
              </a:tr>
              <a:tr h="28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Investor Tools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Advanced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Emails + pitch practice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92%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🟡 Existing Project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28848"/>
                  </a:ext>
                </a:extLst>
              </a:tr>
              <a:tr h="28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UI/UX Clarity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Good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Clean + structured UI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97%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🟢 </a:t>
                      </a: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YOU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054764"/>
                  </a:ext>
                </a:extLst>
              </a:tr>
              <a:tr h="28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Feature Visibility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Medium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Very high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98%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🟢 </a:t>
                      </a: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YOU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790067"/>
                  </a:ext>
                </a:extLst>
              </a:tr>
              <a:tr h="28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Beginner Friendly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Medium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Very high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99%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🟢 </a:t>
                      </a: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YOU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722059"/>
                  </a:ext>
                </a:extLst>
              </a:tr>
              <a:tr h="28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Innovation Approach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Automation-heavy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Human + AI hybrid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99%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🟢 </a:t>
                      </a: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YOU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444955"/>
                  </a:ext>
                </a:extLst>
              </a:tr>
              <a:tr h="28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Voice / Multi-modal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Strong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Strong (multi-language voice)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95%</a:t>
                      </a: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🟢 </a:t>
                      </a: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YOU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marL="33526" marR="33526" marT="16763" marB="167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56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55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00000" y="-900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B6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11274552" cy="4023360"/>
          </a:xfrm>
          <a:prstGeom prst="rect">
            <a:avLst/>
          </a:prstGeom>
          <a:solidFill>
            <a:srgbClr val="141422"/>
          </a:solidFill>
          <a:ln w="635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A0A14"/>
          </a:solidFill>
          <a:ln w="9525">
            <a:solidFill>
              <a:srgbClr val="E6C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000" b="1">
                <a:solidFill>
                  <a:srgbClr val="E6C870"/>
                </a:solidFill>
                <a:latin typeface="Calibri"/>
              </a:rPr>
              <a:t>AI MUSCLE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859536"/>
            <a:ext cx="1097280" cy="45720"/>
          </a:xfrm>
          <a:prstGeom prst="rect">
            <a:avLst/>
          </a:prstGeom>
          <a:solidFill>
            <a:srgbClr val="E6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 i="0">
                <a:solidFill>
                  <a:srgbClr val="F4EFE2"/>
                </a:solidFill>
                <a:latin typeface="Calibri"/>
              </a:rPr>
              <a:t>18+ AI experts under one 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A0A14"/>
          </a:solidFill>
          <a:ln w="9525">
            <a:solidFill>
              <a:srgbClr val="E6C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000" b="1">
                <a:solidFill>
                  <a:srgbClr val="E6C870"/>
                </a:solidFill>
                <a:latin typeface="Calibri"/>
              </a:rPr>
              <a:t>Core Wizard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Domain finder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World-problem miner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Novelty analyzer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Funding scout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Verdict generator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A0A14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000" b="1">
                <a:solidFill>
                  <a:srgbClr val="8B5CF6"/>
                </a:solidFill>
                <a:latin typeface="Calibri"/>
              </a:rPr>
              <a:t>The Forge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0040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Logo Studio (Nano Banana)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10-slide Pitch Deck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Tech Stack + costs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30-60-90 Marketing plan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Investor emails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Legal checklist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Customer personas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VC role-play voice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743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A0A14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000" b="1">
                <a:solidFill>
                  <a:srgbClr val="FB7185"/>
                </a:solidFill>
                <a:latin typeface="Calibri"/>
              </a:rPr>
              <a:t>Validation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320040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100-pt Scorecard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Idea Quality Inspector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SWOT + priorities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Trend &amp; demand signal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TAM / SAM / SOM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Competitor matrix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Mom-Test survey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Landing-page A/B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5-yr financials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Pricing strategy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MVP priorities (RICE)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Risk heat-map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EFE2"/>
                </a:solidFill>
                <a:latin typeface="Calibri"/>
              </a:rPr>
              <a:t>•  Investor match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00000" y="-900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B6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11274552" cy="4023360"/>
          </a:xfrm>
          <a:prstGeom prst="rect">
            <a:avLst/>
          </a:prstGeom>
          <a:solidFill>
            <a:srgbClr val="141422"/>
          </a:solidFill>
          <a:ln w="635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A0A14"/>
          </a:solidFill>
          <a:ln w="9525">
            <a:solidFill>
              <a:srgbClr val="E6C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000" b="1">
                <a:solidFill>
                  <a:srgbClr val="E6C870"/>
                </a:solidFill>
                <a:latin typeface="Calibri"/>
              </a:rPr>
              <a:t>UNDER THE HOOD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859536"/>
            <a:ext cx="1097280" cy="45720"/>
          </a:xfrm>
          <a:prstGeom prst="rect">
            <a:avLst/>
          </a:prstGeom>
          <a:solidFill>
            <a:srgbClr val="E6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 i="0">
                <a:solidFill>
                  <a:srgbClr val="F4EFE2"/>
                </a:solidFill>
                <a:latin typeface="Calibri"/>
              </a:rPr>
              <a:t>Engineered for scale, built for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F4EFE2"/>
                </a:solidFill>
                <a:latin typeface="Calibri"/>
              </a:rPr>
              <a:t>•  Frontend: React 19 + Tailwind + shadcn/ui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F4EFE2"/>
                </a:solidFill>
                <a:latin typeface="Calibri"/>
              </a:rPr>
              <a:t>•  Framer Motion for text-pop animations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F4EFE2"/>
                </a:solidFill>
                <a:latin typeface="Calibri"/>
              </a:rPr>
              <a:t>•  Recharts for all validation visualizations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F4EFE2"/>
                </a:solidFill>
                <a:latin typeface="Calibri"/>
              </a:rPr>
              <a:t>•  Web Audio + MediaRecorder for VAD voice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F4EFE2"/>
                </a:solidFill>
                <a:latin typeface="Calibri"/>
              </a:rPr>
              <a:t>•  JWT auth, localStorage-token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F4EFE2"/>
                </a:solidFill>
                <a:latin typeface="Calibri"/>
              </a:rPr>
              <a:t>•  Backend: FastAPI async + MongoDB (Motor)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F4EFE2"/>
                </a:solidFill>
                <a:latin typeface="Calibri"/>
              </a:rPr>
              <a:t>•  Claude Haiku 4.5 for all structured JSON calls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F4EFE2"/>
                </a:solidFill>
                <a:latin typeface="Calibri"/>
              </a:rPr>
              <a:t>•  Gemini Nano Banana for logo generation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F4EFE2"/>
                </a:solidFill>
                <a:latin typeface="Calibri"/>
              </a:rPr>
              <a:t>•  OpenAI Whisper STT + TTS (Nova voice)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F4EFE2"/>
                </a:solidFill>
                <a:latin typeface="Calibri"/>
              </a:rPr>
              <a:t>•  Gmail SMTP with bcrypt + OTP password reset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00000" y="-900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B6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11274552" cy="4023360"/>
          </a:xfrm>
          <a:prstGeom prst="rect">
            <a:avLst/>
          </a:prstGeom>
          <a:solidFill>
            <a:srgbClr val="141422"/>
          </a:solidFill>
          <a:ln w="635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A0A14"/>
          </a:solidFill>
          <a:ln w="9525">
            <a:solidFill>
              <a:srgbClr val="E6C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000" b="1">
                <a:solidFill>
                  <a:srgbClr val="E6C870"/>
                </a:solidFill>
                <a:latin typeface="Calibri"/>
              </a:rPr>
              <a:t>MARKET &amp;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859536"/>
            <a:ext cx="1097280" cy="45720"/>
          </a:xfrm>
          <a:prstGeom prst="rect">
            <a:avLst/>
          </a:prstGeom>
          <a:solidFill>
            <a:srgbClr val="E6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 i="0">
                <a:solidFill>
                  <a:srgbClr val="F4EFE2"/>
                </a:solidFill>
                <a:latin typeface="Calibri"/>
              </a:rPr>
              <a:t>Massive TAM, freemium GTM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 i="0">
                <a:solidFill>
                  <a:srgbClr val="E6C870"/>
                </a:solidFill>
                <a:latin typeface="Calibri"/>
              </a:rPr>
              <a:t>305M  ·  Aspiring founders worldwide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1">
                <a:solidFill>
                  <a:srgbClr val="B8B1A0"/>
                </a:solidFill>
                <a:latin typeface="Calibri"/>
              </a:rPr>
              <a:t>(GEM Global Entrepreneurship Monitor)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  <a:latin typeface="Calibri"/>
              </a:rPr>
              <a:t>$5.2B  ·  Startup validation + research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1">
                <a:solidFill>
                  <a:srgbClr val="B8B1A0"/>
                </a:solidFill>
                <a:latin typeface="Calibri"/>
              </a:rPr>
              <a:t>(SAM,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 i="0">
                <a:solidFill>
                  <a:srgbClr val="B8B1A0"/>
                </a:solidFill>
                <a:latin typeface="Calibri"/>
              </a:rPr>
              <a:t>Pricing: Free (5 validations) → Pro $19/mo (unlimited) → Teams $99/mo (co-founder seats)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8346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4EFE2"/>
                </a:solidFill>
                <a:latin typeface="Calibri"/>
              </a:rPr>
              <a:t>•  Target ICP: aspiring solo founders, MBA students, side-project builders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4EFE2"/>
                </a:solidFill>
                <a:latin typeface="Calibri"/>
              </a:rPr>
              <a:t>•  Freemium funnel: 1 free dossier → upgrade for validation lab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4EFE2"/>
                </a:solidFill>
                <a:latin typeface="Calibri"/>
              </a:rPr>
              <a:t>•  3-tier plan: $0 / $19 / $99 per month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4EFE2"/>
                </a:solidFill>
                <a:latin typeface="Calibri"/>
              </a:rPr>
              <a:t>•  10% expected paid conversion on 100k free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00000" y="-900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B6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11274552" cy="4023360"/>
          </a:xfrm>
          <a:prstGeom prst="rect">
            <a:avLst/>
          </a:prstGeom>
          <a:solidFill>
            <a:srgbClr val="141422"/>
          </a:solidFill>
          <a:ln w="635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A0A14"/>
          </a:solidFill>
          <a:ln w="9525">
            <a:solidFill>
              <a:srgbClr val="E6C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000" b="1">
                <a:solidFill>
                  <a:srgbClr val="E6C870"/>
                </a:solidFill>
                <a:latin typeface="Calibri"/>
              </a:rPr>
              <a:t>COMPETITIVE 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859536"/>
            <a:ext cx="1097280" cy="45720"/>
          </a:xfrm>
          <a:prstGeom prst="rect">
            <a:avLst/>
          </a:prstGeom>
          <a:solidFill>
            <a:srgbClr val="E6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 i="0">
                <a:solidFill>
                  <a:srgbClr val="F4EFE2"/>
                </a:solidFill>
                <a:latin typeface="Calibri"/>
              </a:rPr>
              <a:t>Why Cofoundry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F4EFE2"/>
                </a:solidFill>
                <a:latin typeface="Calibri"/>
              </a:rPr>
              <a:t>•  All-in-one: no other tool combines wizard + validation lab + forge + voice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4EFE2"/>
                </a:solidFill>
                <a:latin typeface="Calibri"/>
              </a:rPr>
              <a:t>•  Multi-modal: text + voice + image (Nano Banana logo gen) in one product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4EFE2"/>
                </a:solidFill>
                <a:latin typeface="Calibri"/>
              </a:rPr>
              <a:t>•  Multi-language: Whisper auto-detects 50+ languages, AI replies in same tongue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4EFE2"/>
                </a:solidFill>
                <a:latin typeface="Calibri"/>
              </a:rPr>
              <a:t>•  Conversational UX: tap-to-talk robot avatar — zero learning curve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4EFE2"/>
                </a:solidFill>
                <a:latin typeface="Calibri"/>
              </a:rPr>
              <a:t>•  Investor-ready artifacts: scorecard, deck, logo, financials — all shareable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4EFE2"/>
                </a:solidFill>
                <a:latin typeface="Calibri"/>
              </a:rPr>
              <a:t>•  Built on Emergent stack in days, not months — demoable end-to-end TODAY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B6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0" y="2286000"/>
            <a:ext cx="3657600" cy="365760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8000" b="1" i="0">
                <a:solidFill>
                  <a:srgbClr val="F4EFE2"/>
                </a:solidFill>
                <a:latin typeface="Calibri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400" b="0" i="1">
                <a:solidFill>
                  <a:srgbClr val="E6C870"/>
                </a:solidFill>
                <a:latin typeface="Calibri"/>
              </a:rPr>
              <a:t>Cofoundry — your AI co-founder.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2300"/>
            <a:ext cx="10972800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 i="0" dirty="0">
                <a:solidFill>
                  <a:srgbClr val="B8B1A0"/>
                </a:solidFill>
                <a:latin typeface="Calibri"/>
              </a:rPr>
              <a:t>github.com/pasha917/</a:t>
            </a:r>
            <a:r>
              <a:rPr sz="1200" b="0" i="0" dirty="0" err="1">
                <a:solidFill>
                  <a:srgbClr val="B8B1A0"/>
                </a:solidFill>
                <a:latin typeface="Calibri"/>
              </a:rPr>
              <a:t>hakthon</a:t>
            </a:r>
            <a:endParaRPr sz="1200" b="0" i="0" dirty="0">
              <a:solidFill>
                <a:srgbClr val="B8B1A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973</Words>
  <Application>Microsoft Office PowerPoint</Application>
  <PresentationFormat>Widescreen</PresentationFormat>
  <Paragraphs>220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</vt:lpstr>
      <vt:lpstr>Monaspace Neon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Mahaynoor Fathima</cp:lastModifiedBy>
  <cp:revision>3</cp:revision>
  <dcterms:created xsi:type="dcterms:W3CDTF">2013-01-27T09:14:16Z</dcterms:created>
  <dcterms:modified xsi:type="dcterms:W3CDTF">2026-05-03T03:11:48Z</dcterms:modified>
  <cp:category/>
</cp:coreProperties>
</file>